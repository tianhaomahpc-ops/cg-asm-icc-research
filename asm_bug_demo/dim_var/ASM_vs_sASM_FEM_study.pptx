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重叠 Schwarz 预条件：ASM（未加权）对比 sASM（加权）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非结构 P1 有限元上的维度 · 边界条件 · 各向异性系统研究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2606040" cy="914400"/>
          </a:xfrm>
          <a:prstGeom prst="rect">
            <a:avLst/>
          </a:prstGeom>
          <a:solidFill>
            <a:srgbClr val="1B3A5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30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407822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全Dirichlet · 各向同性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3611880"/>
            <a:ext cx="2606040" cy="914400"/>
          </a:xfrm>
          <a:prstGeom prst="rect">
            <a:avLst/>
          </a:prstGeom>
          <a:solidFill>
            <a:srgbClr val="1B3A5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3730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03320" y="407822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全Dirichlet · 各向异性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0" y="3611880"/>
            <a:ext cx="2606040" cy="914400"/>
          </a:xfrm>
          <a:prstGeom prst="rect">
            <a:avLst/>
          </a:prstGeom>
          <a:solidFill>
            <a:srgbClr val="1B3A5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730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c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407822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Dirichlet+Neumann · 各向同性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3611880"/>
            <a:ext cx="2606040" cy="914400"/>
          </a:xfrm>
          <a:prstGeom prst="rect">
            <a:avLst/>
          </a:prstGeom>
          <a:solidFill>
            <a:srgbClr val="1B3A5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3730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A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281160" y="407822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Dirichlet+Neumann · 各向异性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 + PCASM + ICC(0) · PETSc 3.24 · 2026-06-18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背景：重叠为什么反而让迭代变多？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经典印象：</a:t>
            </a:r>
            <a:pPr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重叠 ↑ → 条件数 ↓ → 迭代 ↓（κ ≤ C(1+H/δ)）。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C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反常：</a:t>
            </a:r>
            <a:pPr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未加权 BASIC ASM + ICC 不精确局部解 + CG 时，重叠 ↑ → 迭代 ↑（源自 cardioid Sys2/Sys3）。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为何少见：</a:t>
            </a:r>
            <a:pPr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主流默认 RAS（非对称、配 GMRES，自带单位分解不过计数）；要 CG 对称就得用 BASIC，正好踩坑。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本研究：</a:t>
            </a:r>
            <a:pPr indent="0" marL="0">
              <a:buNone/>
            </a:pPr>
            <a:r>
              <a:rPr lang="en-US" sz="15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4 个 case 上系统比较 ASM 与 sASM 的迭代、时间与可解释量（κ、谱、N̂、ω、Dirichlet 信息传递）。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89520" y="164592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0" y="1783080"/>
            <a:ext cx="3749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4E79"/>
                </a:solidFill>
              </a:rPr>
              <a:t>ASM (BASIC)
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M⁻¹ = Σᵢ Rᵢᵀ Aᵢ⁻¹ Rᵢ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B"/>
                </a:solidFill>
              </a:rPr>
              <a:t>重叠区被重复累加 → 过计数 N̂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589520" y="352044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0" y="36576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8641B"/>
                </a:solidFill>
              </a:rPr>
              <a:t>sASM (加权)
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M⁻¹ = D⁻¹ᐟ² (Σᵢ Rᵢᵀ Aᵢ⁻¹ Rᵢ) D⁻¹ᐟ²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B"/>
                </a:solidFill>
              </a:rPr>
              <a:t>D = diag(重数 mₖ) → 去掉过计数 N̂，保持对称（CG 可用）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方法：方程、离散、子域、求解器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46634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45920"/>
            <a:ext cx="42976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17A8B"/>
                </a:solidFill>
              </a:rPr>
              <a:t>控制方程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−∇·(A ∇u) = f   on  Ω=[0,1]ᵈ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B"/>
                </a:solidFill>
              </a:rPr>
              <a:t>A：扩散张量（各向同/异性）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3A"/>
                </a:solidFill>
              </a:rPr>
              <a:t>离散：P1 非结构单纯形（Delaunay 抖动网格）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46634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794760"/>
            <a:ext cx="42976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17A8B"/>
                </a:solidFill>
              </a:rPr>
              <a:t>求解与测量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</a:rPr>
              <a:t>• 子域：S^d 几何盒子 + METIS k-way（两种）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</a:rPr>
              <a:t>• 局部解：ICC(0)（不精确）/ Cholesky（精确）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</a:rPr>
              <a:t>• Krylov：CG（对称）；重叠 O = 0…4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</a:rPr>
              <a:t>• 测量：迭代数、setup/solve 时间、κ、谱分布、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00000"/>
                </a:solidFill>
              </a:rPr>
              <a:t>   N̂（最大重数）、ω=maxᵢλmax(Mᵢ⁻¹Aᵢ)</a:t>
            </a:r>
            <a:endParaRPr lang="en-US" sz="1400" dirty="0"/>
          </a:p>
        </p:txBody>
      </p:sp>
      <p:pic>
        <p:nvPicPr>
          <p:cNvPr id="12" name="Image 0" descr="results/fig_mesh_part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2683908"/>
            <a:ext cx="6400800" cy="23131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示例：非结构 P1 网格与两种子域划分（几何盒子 / METIS）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四个 Case 的定义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595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566160"/>
                <a:gridCol w="283464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系数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边界条件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各向同性  A = 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 Dirichlet  (u=0 整个 ∂Ω)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/ 2D / 3D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各向异性  A=diag(σL,σT,σT)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2D:diag(10,1) · 3D:Niederer σL/σT=7.58 (纤维∥x)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 Dirichlet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/ 3D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各向同性  A = 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混合：x₀=0 面 Dirichlet，其余 ∂u/∂n=0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1D / 2D / 3D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各向异性（同 b）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混合（同 c）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/ 3D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418320" y="1554480"/>
            <a:ext cx="2331720" cy="3291840"/>
          </a:xfrm>
          <a:prstGeom prst="rect">
            <a:avLst/>
          </a:prstGeom>
          <a:solidFill>
            <a:srgbClr val="0E2236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0" y="173736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A13A"/>
                </a:solidFill>
              </a:rPr>
              <a:t>对比维度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b vs a → 各向异性的影响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c vs a → 边界条件的影响
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d vs c → 各向异性 × 混合BC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55321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</a:rPr>
              <a:t>预条件子：  </a:t>
            </a:r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ASM  M⁻¹=ΣRᵢᵀAᵢ⁻¹Rᵢ</a:t>
            </a:r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</a:rPr>
              <a:t>     vs     </a:t>
            </a:r>
            <a:pPr indent="0" marL="0">
              <a:buNone/>
            </a:pPr>
            <a:r>
              <a:rPr lang="en-US" sz="1300" b="1" dirty="0">
                <a:solidFill>
                  <a:srgbClr val="C86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sASM  M⁻¹=D⁻¹ᐟ²(·)D⁻¹ᐟ²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 · 迭代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总览：ASM vs sASM 迭代次数（2D）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8" name="Image 0" descr="results/fig_iter_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863" y="1463040"/>
            <a:ext cx="6223635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989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图：2D 各 case，CG 迭代 vs 重叠；实线=ASM，虚线=sASM；蓝=盒子, 橙=METIS。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75320" y="1508760"/>
            <a:ext cx="350489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39912" y="1664208"/>
            <a:ext cx="318485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本图展示：四个 case 的迭代-重叠曲线，对比 ASM 与 sASM。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ASM：重叠↑ 迭代↑（反常）—— a 79→104, c 119→158。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sASM：单调下降并显著更低 —— a 79→64, c 119→95。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混合BC(c) 比全Dirichlet(a) 反常更强。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与 METIS 划分趋势一致。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 · 3D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ASM vs sASM（3D）：最严重的组合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8" name="Image 0" descr="results/fig_iter_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863" y="1463040"/>
            <a:ext cx="6223635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989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图：3D 各 case，CG 迭代 vs 重叠；实线=ASM，虚线=sASM。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75320" y="1508760"/>
            <a:ext cx="350489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39912" y="1664208"/>
            <a:ext cx="318485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本图展示：3D（N≈8000，~49k 四面体）的迭代-重叠曲线。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d（混合BC+各向异性）最坏：ASM 203→413（翻倍），sASM 203→143。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sASM 在所有 3D case 全面更优。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几何过计数 N̂ 最大可达 ~20（盒子角点）。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 在非结构 3D P1 升到 2–5（ICC 在不规则网格更差）。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 · 条件数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条件数 κ(M⁻¹A)（2D）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Image 0" descr="results/fig_kappa_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863" y="1463040"/>
            <a:ext cx="6223635" cy="4526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989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图：2D 各 case，κ(M⁻¹A) vs 重叠（对数轴）；实线=ASM，虚线=sASM。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75320" y="1508760"/>
            <a:ext cx="350489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39912" y="1664208"/>
            <a:ext cx="318485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本图展示：预条件后条件数随重叠的变化。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ASM：κ 随重叠上升或不降（λmax 被 N̂ 抬高）。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sASM：κ 明显更低（去掉 N̂ 过计数）。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迭代数与 κ 的趋势一致，互相印证。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可解释性 · 维度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维度效应：1D 免疫，2D/3D 出现反常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8" name="Image 0" descr="results/fig_dim_cas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7721"/>
            <a:ext cx="7680960" cy="30025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394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图：Case a（全Dirichlet 各向同性，盒子划分）1D/2D/3D 的迭代与 κ。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75320" y="1508760"/>
            <a:ext cx="350489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39912" y="1664208"/>
            <a:ext cx="318485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本图展示：固定 case a，比较 1D/2D/3D。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1D：ICC(0) 在三对角阵上精确 → ω=1 → 无反常；ASM 迭代恒为 17。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sASM 在 1D 反而更差（17→34）：无过计数可去，加权只扰动。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2D/3D：ω&gt;1，过计数 N̂=2ᵈ 起作用 → 反常出现，sASM 修复。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维度放大器是几何 N̂=m_axis^d，不是 ω（ω 饱和）。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可解释性 · 边界条件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边界条件效应：Dirichlet 信息传递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8" name="Image 0" descr="results/fig_bc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64881"/>
            <a:ext cx="7680960" cy="300255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669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图：2D，全Dirichlet(a) vs 混合BC(c)：迭代 与 λmin vs 重叠。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75320" y="1508760"/>
            <a:ext cx="350489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39912" y="1664208"/>
            <a:ext cx="318485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本图展示：边界条件如何改变反常与 λmin。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全Dirichlet(a)：整个边界被钉住，信息从四面传入 → λmin 较大，反常较轻。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混合(c)：仅一面 Dirichlet，Neumann 方向使 λmin 更小、信息传播更慢 → 反常更强。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重叠↑ 提升 λmin（加速边界信息传递），但 ASM 的 N̂ 过计数抵消了收益。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可解释性 · 各向异性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各向异性效应：抬高 ω 与迭代，并与混合BC 叠加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8" name="Image 0" descr="results/fig_aniso_ful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845" y="1417320"/>
            <a:ext cx="5613991" cy="2194560"/>
          </a:xfrm>
          <a:prstGeom prst="rect">
            <a:avLst/>
          </a:prstGeom>
        </p:spPr>
      </p:pic>
      <p:pic>
        <p:nvPicPr>
          <p:cNvPr id="9" name="Image 1" descr="results/fig_aniso_mix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56" y="3749040"/>
            <a:ext cx="4561367" cy="1783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" y="56235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上：全Dirichlet  a(各向同) vs b(各向异)　·　下：混合BC  c vs 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00800" y="1554480"/>
            <a:ext cx="5379415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583680" y="1700784"/>
            <a:ext cx="5013655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本图展示：在全Dirichlet 与混合BC 下，各向异性对迭代/λmin 的影响。</a:t>
            </a:r>
            <a:endParaRPr lang="en-US" sz="130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各向异性（2D 10×、3D Niederer 7.58）抬高局部 ICC 放大因子 ω 与迭代数。</a:t>
            </a:r>
            <a:endParaRPr lang="en-US" sz="130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几何过计数 N̂ 与系数无关（纯几何），不被各向异性改变。</a:t>
            </a:r>
            <a:endParaRPr lang="en-US" sz="130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最坏是 case d-3D（各向异性 × 混合BC）：ASM 迭代翻倍。</a:t>
            </a:r>
            <a:endParaRPr lang="en-US" sz="130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sASM 去掉 N̂ 修复重叠趋势；但 sASM 几何加权对各向异性「盲」——强各向异性/高对比下绝对 κ 仍高，需谱粗空间(GenEO)。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可解释性 · 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谱分布（CG Ritz 值）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8" name="Image 0" descr="results/fig_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92249"/>
            <a:ext cx="7863840" cy="1867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图：代表算例 O=2 的 M⁻¹A Ritz 特征值分布直方图；蓝=ASM, 红=sASM。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458200" y="1508760"/>
            <a:ext cx="332201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22792" y="1664208"/>
            <a:ext cx="300197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本图展示：预条件算子的谱分布。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ASM：谱向右拖出大特征值簇（N̂ 过计数把 λmax 推高）。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sASM：大端被压回 ≈ ω，谱更集中 → CG 收敛更快。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谱宽 = 条件数，直接对应迭代数差异。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 · 时间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计算时间：sASM 每步略贵，但更快收敛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8" name="Image 0" descr="results/fig_timing_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93434"/>
            <a:ext cx="7680960" cy="294545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669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图：2D，solve 与 setup 墙钟时间 vs 重叠；实线=ASM, 虚线=sASM。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75320" y="1508760"/>
            <a:ext cx="3504895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439912" y="1664208"/>
            <a:ext cx="318485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本图展示：ASM 与 sASM 的求解/装配时间。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sASM 每次迭代仅多 2 次向量缩放（D⁻¹ᐟ²）——开销极小。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6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迭代数更少 → sASM 总求解时间通常更短。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两者相当（sASM 复用同一 BASIC 内核 + 一次重数计算）。</a:t>
            </a:r>
            <a:endParaRPr lang="en-US" sz="1300" dirty="0"/>
          </a:p>
          <a:p>
            <a:pPr marL="165100" indent="-1651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注：本机串行计时，为相对比较；HPC 并行规律一致。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buSzPct val="100000"/>
              <a:buChar char="•"/>
            </a:pPr>
            <a:r>
              <a:rPr lang="en-US" sz="15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sASM 在 2D/3D 全面优于 ASM：</a:t>
            </a:r>
            <a:endParaRPr lang="en-US" sz="15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去掉几何过计数 N̂，迭代单调下降、κ 更低、总时间更短；保持对称（CG 可用）。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是例外：</a:t>
            </a:r>
            <a:endParaRPr lang="en-US" sz="15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ICC(0) 精确(ω=1)、无过计数 → 无反常；此时 sASM 反而略差。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最严重的组合：</a:t>
            </a:r>
            <a:endParaRPr lang="en-US" sz="15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+ 混合边界 + 各向异性（case d-3D）ASM 迭代随重叠翻倍。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边界条件：</a:t>
            </a:r>
            <a:endParaRPr lang="en-US" sz="15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全Dirichlet 信息从四面传入 → λmin 大、反常轻；混合BC 反之。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机制：</a:t>
            </a:r>
            <a:endParaRPr lang="en-US" sz="15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λmax(ASM) ≈ ω·N̂；N̂=几何过计数(维度放大器), ω=不精确ICC放大(开关)。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边界：</a:t>
            </a:r>
            <a:endParaRPr lang="en-US" sz="1500" dirty="0"/>
          </a:p>
          <a:p>
            <a:pPr marL="190500" indent="-1905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sASM 几何加权对各向异性/高对比「盲」——这些情形需谱粗空间 (GenEO)。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7A8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附录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75488" y="56692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复现与工具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vs sASM · 非结构 P1 有限元 · PETSc 3.24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68735" y="6547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67665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69164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17A8B"/>
                </a:solidFill>
              </a:rPr>
              <a:t>流程（PETSc 3.24）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fem_build.py &lt;a|b|c|d&gt; &lt;dim&gt; &lt;n&gt; &lt;nsub&gt;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B6B7B"/>
                </a:solidFill>
              </a:rPr>
              <a:t>   非结构 P1 网格(Delaunay)+装配+两种分区 → PETSc 二进制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mpicc schwarz_fem.c -lpetsc -o schwarz_fem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run_fem.sh        # 全 case × {box,METIS} × {ASM,sASM} × O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parse_fem.py   # → results/*.csv + 图
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2A3A"/>
                </a:solidFill>
              </a:rPr>
              <a:t>测量量：iter, t_setup, t_solve, κ, 谱(Ritz), N̂, 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0" y="1554480"/>
            <a:ext cx="4282135" cy="4480560"/>
          </a:xfrm>
          <a:prstGeom prst="rect">
            <a:avLst/>
          </a:prstGeom>
          <a:solidFill>
            <a:srgbClr val="0E2236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8100000">
              <a:srgbClr val="9AA9B8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0" y="1737360"/>
            <a:ext cx="3916375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13A"/>
                </a:solidFill>
              </a:rPr>
              <a:t>要点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• 串行 + 显式 S^d/METIS 子域，独立于进程数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• 工具为 PETSc 3.24 API，可直接搬到 HPC spack PETSc 3.24 跑大规模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• 高对比/各向异性局部 ICC 用 positive_definite shift
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</a:rPr>
              <a:t>• 下一步：在 case d 边界处加 GenEO 谱粗空间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ASM vs sASM on unstructured P1 FEM</dc:title>
  <dc:subject>PptxGenJS Presentation</dc:subject>
  <dc:creator>Tianhao Ma</dc:creator>
  <cp:lastModifiedBy>Tianhao Ma</cp:lastModifiedBy>
  <cp:revision>1</cp:revision>
  <dcterms:created xsi:type="dcterms:W3CDTF">2026-06-18T08:44:15Z</dcterms:created>
  <dcterms:modified xsi:type="dcterms:W3CDTF">2026-06-18T08:44:15Z</dcterms:modified>
</cp:coreProperties>
</file>